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0" autoAdjust="0"/>
    <p:restoredTop sz="94660"/>
  </p:normalViewPr>
  <p:slideViewPr>
    <p:cSldViewPr>
      <p:cViewPr varScale="1">
        <p:scale>
          <a:sx n="105" d="100"/>
          <a:sy n="105" d="100"/>
        </p:scale>
        <p:origin x="21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BE582-771C-4F25-B833-B739FDE2849A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34494-6CF0-4798-8C22-C8DCAE1DC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496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34494-6CF0-4798-8C22-C8DCAE1DC2C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00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A207-EE03-42E6-8F53-666D93A7F4FB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F5BD9-7912-465A-80F3-7BA495E27E04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ACF18-9E62-48C8-AA84-7087D7ECB061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9D8D-2284-40E2-97AB-70DFC6483732}" type="datetime1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30B07-1D04-4A4C-A6F0-DA4C01F21CAD}" type="datetime1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2DD9-104E-4BF9-8226-57F7CBF10AEA}" type="datetime1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70FC-E612-41E7-98B2-0E67939DB459}" type="datetime1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8FE9-F4A5-46D2-8772-67824C701A92}" type="datetime1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959D-8884-4C1C-9422-DCA43DA6A695}" type="datetime1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D6B-9DE1-4937-90E3-0E63FD4C3DF6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4D35-35DC-4DBF-9AEF-5AEF9230E158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C9AFF-6B22-43B0-892C-5A1D93A0B159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628800"/>
            <a:ext cx="7772400" cy="1470025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Титульный лист</a:t>
            </a:r>
          </a:p>
        </p:txBody>
      </p:sp>
    </p:spTree>
    <p:extLst>
      <p:ext uri="{BB962C8B-B14F-4D97-AF65-F5344CB8AC3E}">
        <p14:creationId xmlns:p14="http://schemas.microsoft.com/office/powerpoint/2010/main" val="319728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4348" y="7141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АНАЛИЗ ПРЕДМЕТНОЙ ОБЛАСТИ КП</a:t>
            </a:r>
            <a:b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 – 2 СЛАЙД)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8596" y="1428736"/>
            <a:ext cx="8215370" cy="4357718"/>
          </a:xfrm>
        </p:spPr>
        <p:txBody>
          <a:bodyPr>
            <a:normAutofit fontScale="32500" lnSpcReduction="20000"/>
          </a:bodyPr>
          <a:lstStyle/>
          <a:p>
            <a:pPr indent="447675" algn="just">
              <a:lnSpc>
                <a:spcPct val="130000"/>
              </a:lnSpc>
              <a:spcBef>
                <a:spcPts val="0"/>
              </a:spcBef>
            </a:pP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Анализ предметной области в курсовом проекте/практике – это важный этап, который позволяет глубже понять проблему, которую вы собираетесь решать. В этом разделе необходимо рассмотреть несколько ключевых аспектов:</a:t>
            </a:r>
          </a:p>
          <a:p>
            <a:pPr marL="179388" indent="179388" algn="just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3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Определение предметной области</a:t>
            </a: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Четко сформулируйте, что именно вы исследуете. Это может быть конкретная сфера деятельности, например, электронная коммерция, управление проектами или медицинские услуги.</a:t>
            </a:r>
          </a:p>
          <a:p>
            <a:pPr marL="179388" indent="179388" algn="just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3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Актуальность проблемы</a:t>
            </a: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Объясните, почему выбранная вами тема важна. Какие проблемы существуют в данной области, и как ваш проект может помочь их решить?</a:t>
            </a:r>
          </a:p>
          <a:p>
            <a:pPr marL="179388" indent="179388" algn="just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3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Целевая аудитория</a:t>
            </a: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Определите, кто будет конечным пользователем вашего решения. Это могут быть компании, отдельные пользователи или другие заинтересованные стороны.</a:t>
            </a:r>
          </a:p>
          <a:p>
            <a:pPr marL="179388" indent="179388" algn="just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3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Существующие решения</a:t>
            </a: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Изучите, какие решения уже существуют в вашей предметной области. Какие из них успешны, а какие нет? Почему?</a:t>
            </a:r>
          </a:p>
          <a:p>
            <a:pPr marL="179388" indent="179388" algn="just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3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Требования и ограничения</a:t>
            </a: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Определите, какие требования должны быть выполнены для успешной реализации проекта. Также учтите возможные ограничения, такие как бюджет, время и технологии.</a:t>
            </a:r>
          </a:p>
          <a:p>
            <a:pPr marL="179388" indent="179388" algn="just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3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Методология исследования</a:t>
            </a: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Опишите, какие методы и подходы вы будете использовать для анализа и решения проблемы. Это могут быть как качественные, так и количественные методы.</a:t>
            </a:r>
          </a:p>
          <a:p>
            <a:pPr marL="179388" indent="179388" algn="just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3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Ожидаемые результаты</a:t>
            </a: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Сформулируйте, каких результатов вы ожидаете достичь в ходе реализации проекта. Как ваше решение повлияет на предметную область?</a:t>
            </a:r>
          </a:p>
          <a:p>
            <a:pPr indent="447675" algn="just">
              <a:lnSpc>
                <a:spcPct val="130000"/>
              </a:lnSpc>
              <a:spcBef>
                <a:spcPts val="0"/>
              </a:spcBef>
              <a:tabLst>
                <a:tab pos="0" algn="l"/>
              </a:tabLst>
            </a:pP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Такой анализ поможет вам создать четкую и обоснованную основу для дальнейшей работы над курсовым проектом</a:t>
            </a:r>
            <a:r>
              <a:rPr lang="ru-RU" sz="3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/практикой.</a:t>
            </a:r>
            <a:endParaRPr lang="ru-RU" sz="3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47675" algn="just">
              <a:lnSpc>
                <a:spcPct val="130000"/>
              </a:lnSpc>
              <a:spcBef>
                <a:spcPts val="0"/>
              </a:spcBef>
              <a:tabLst>
                <a:tab pos="0" algn="l"/>
              </a:tabLst>
            </a:pP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47675" algn="just">
              <a:lnSpc>
                <a:spcPct val="130000"/>
              </a:lnSpc>
              <a:spcBef>
                <a:spcPts val="0"/>
              </a:spcBef>
              <a:tabLst>
                <a:tab pos="0" algn="l"/>
              </a:tabLst>
            </a:pPr>
            <a:r>
              <a:rPr lang="ru-RU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49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ПРЕДСТАВЛЯЕТСЯ ДАННЫЙ СЛАЙД ВИДЕ СХЕМ ИЛИ РИСУНКОВ</a:t>
            </a:r>
          </a:p>
          <a:p>
            <a:pPr indent="447675" algn="just">
              <a:lnSpc>
                <a:spcPct val="130000"/>
              </a:lnSpc>
              <a:spcBef>
                <a:spcPts val="0"/>
              </a:spcBef>
              <a:tabLst>
                <a:tab pos="0" algn="l"/>
              </a:tabLst>
            </a:pPr>
            <a:endParaRPr lang="ru-RU" sz="3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47675" algn="just">
              <a:lnSpc>
                <a:spcPct val="130000"/>
              </a:lnSpc>
              <a:spcBef>
                <a:spcPts val="0"/>
              </a:spcBef>
              <a:tabLst>
                <a:tab pos="0" algn="l"/>
              </a:tabLst>
            </a:pPr>
            <a:endParaRPr lang="ru-RU" sz="3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АКТУАЛЬНОСТЬ КП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88" indent="446088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Актуальность темы — это степень ее важности и значимости в текущий момент. Это означает, что тема вызывает интерес и требует внимания, потому что связана с современными проблемами, событиями или потребностями общества (другими словами, мы должны описать для чего нам нужна, разрабатываемая программа, при этом про программу ничего не говорим и не описываем).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1588" indent="446088" algn="ctr">
              <a:buNone/>
            </a:pP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СЛАЙД РАСПИСЫВАЕМ С ТОЧКИ ЗРЕНИЯ ЗАТРАЧЕННОГО ВРЕМЕНИ, ПОСКОЛЬКУ В ОСНОВНОМ ИСПОЛЬЗУЕТСЯ РУЧНОЙ ТРУД, СЛАЙД ПРЕДСТАВЛЯЕТСЯ В ВИДЕ СХЕМ, ДИАГРАММ, РИСУНКОВ </a:t>
            </a:r>
          </a:p>
          <a:p>
            <a:pPr marL="1588" indent="446088" algn="ctr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(без разрабатываемой ИС)   (1 слайд)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ЦЕЛЬ КП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401080" cy="3757625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Цель КП может варьироваться в зависимости от предмета и учебного заведения, но в общем смысле они могут включать следующие аспекты:</a:t>
            </a:r>
          </a:p>
          <a:p>
            <a:pPr algn="just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Закрепление знаний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: Проверка и углубление усвоенного материала, чтобы обучающиеся могли применять теоретические знания на практике.</a:t>
            </a:r>
          </a:p>
          <a:p>
            <a:pPr algn="just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Развитие навыков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: Формирование практических умений, необходимых для выполнения профессиональных задач в выбранной области.</a:t>
            </a:r>
          </a:p>
          <a:p>
            <a:pPr algn="just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Анализ и исследование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: Обучающиеся могут проводить исследования, анализировать данные или решать практические задачи, что помогает развивать критическое мышление.</a:t>
            </a:r>
          </a:p>
          <a:p>
            <a:pPr algn="just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Подготовка к будущей профессии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: Практика может помочь обучающимся понять, как теоретические знания применяются в реальной жизни и подготовить их к будущей работе.</a:t>
            </a:r>
          </a:p>
          <a:p>
            <a:pPr algn="just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Оценка и самооценка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: КП и практики служат для оценки уровня знаний обучающихся, а также для их самоанализа и понимания своих сильных и слабых сторон.</a:t>
            </a:r>
          </a:p>
          <a:p>
            <a:pPr algn="ctr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Например: </a:t>
            </a:r>
          </a:p>
          <a:p>
            <a:pPr algn="ctr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Цель КП – углубление теоретических знаний и практических навыков в области алгоритмизации задач и разработки программных средств, развитие навыков самостоятельного изучения предметной области поставленной задачи</a:t>
            </a:r>
            <a:r>
              <a:rPr lang="ru-RU" dirty="0"/>
              <a:t>.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ru-RU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143932" cy="785834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ЗАДАЧИ КП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928670"/>
            <a:ext cx="8572560" cy="55721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00" dirty="0">
                <a:latin typeface="Times New Roman" pitchFamily="18" charset="0"/>
                <a:cs typeface="Times New Roman" pitchFamily="18" charset="0"/>
              </a:rPr>
              <a:t>Задачи курсового проекта могут варьироваться в зависимости от учебной дисциплины и целей обучения, но в общем они могут включать следующие аспекты:</a:t>
            </a:r>
          </a:p>
          <a:p>
            <a:pPr>
              <a:buNone/>
            </a:pPr>
            <a:endParaRPr lang="ru-RU" sz="1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000" b="1" dirty="0">
                <a:latin typeface="Times New Roman" pitchFamily="18" charset="0"/>
                <a:cs typeface="Times New Roman" pitchFamily="18" charset="0"/>
              </a:rPr>
              <a:t>Задачи курсового проекта:</a:t>
            </a:r>
          </a:p>
          <a:p>
            <a:r>
              <a:rPr lang="ru-RU" sz="1000" b="1" dirty="0">
                <a:latin typeface="Times New Roman" pitchFamily="18" charset="0"/>
                <a:cs typeface="Times New Roman" pitchFamily="18" charset="0"/>
              </a:rPr>
              <a:t>Исследование темы</a:t>
            </a:r>
            <a:r>
              <a:rPr lang="ru-RU" sz="1000" dirty="0">
                <a:latin typeface="Times New Roman" pitchFamily="18" charset="0"/>
                <a:cs typeface="Times New Roman" pitchFamily="18" charset="0"/>
              </a:rPr>
              <a:t>: Глубокое изучение выбранной темы, что позволяет студентам развивать навыки исследования и анализа.</a:t>
            </a:r>
          </a:p>
          <a:p>
            <a:r>
              <a:rPr lang="ru-RU" sz="1000" b="1" dirty="0">
                <a:latin typeface="Times New Roman" pitchFamily="18" charset="0"/>
                <a:cs typeface="Times New Roman" pitchFamily="18" charset="0"/>
              </a:rPr>
              <a:t>Создание оригинального продукта</a:t>
            </a:r>
            <a:r>
              <a:rPr lang="ru-RU" sz="1000" dirty="0">
                <a:latin typeface="Times New Roman" pitchFamily="18" charset="0"/>
                <a:cs typeface="Times New Roman" pitchFamily="18" charset="0"/>
              </a:rPr>
              <a:t>: Разработка нового продукта, решения или предложения, которые могут быть полезны в конкретной области.</a:t>
            </a:r>
          </a:p>
          <a:p>
            <a:r>
              <a:rPr lang="ru-RU" sz="1000" b="1" dirty="0">
                <a:latin typeface="Times New Roman" pitchFamily="18" charset="0"/>
                <a:cs typeface="Times New Roman" pitchFamily="18" charset="0"/>
              </a:rPr>
              <a:t>Систематизация и структурирование знаний</a:t>
            </a:r>
            <a:r>
              <a:rPr lang="ru-RU" sz="1000" dirty="0">
                <a:latin typeface="Times New Roman" pitchFamily="18" charset="0"/>
                <a:cs typeface="Times New Roman" pitchFamily="18" charset="0"/>
              </a:rPr>
              <a:t>: Организация информации и представление ее в логической и понятной форме.</a:t>
            </a:r>
          </a:p>
          <a:p>
            <a:r>
              <a:rPr lang="ru-RU" sz="1000" b="1" dirty="0">
                <a:latin typeface="Times New Roman" pitchFamily="18" charset="0"/>
                <a:cs typeface="Times New Roman" pitchFamily="18" charset="0"/>
              </a:rPr>
              <a:t>Развитие навыков написания и презентации</a:t>
            </a:r>
            <a:r>
              <a:rPr lang="ru-RU" sz="1000" dirty="0">
                <a:latin typeface="Times New Roman" pitchFamily="18" charset="0"/>
                <a:cs typeface="Times New Roman" pitchFamily="18" charset="0"/>
              </a:rPr>
              <a:t>: Подготовка отчетов и презентаций для защиты проекта, что помогает студентам улучшить навыки публичных выступлений и письменной коммуникации.</a:t>
            </a:r>
          </a:p>
          <a:p>
            <a:r>
              <a:rPr lang="ru-RU" sz="1000" b="1" dirty="0">
                <a:latin typeface="Times New Roman" pitchFamily="18" charset="0"/>
                <a:cs typeface="Times New Roman" pitchFamily="18" charset="0"/>
              </a:rPr>
              <a:t>Оценка и рефлексия</a:t>
            </a:r>
            <a:r>
              <a:rPr lang="ru-RU" sz="1000" dirty="0">
                <a:latin typeface="Times New Roman" pitchFamily="18" charset="0"/>
                <a:cs typeface="Times New Roman" pitchFamily="18" charset="0"/>
              </a:rPr>
              <a:t>: Оценка результатов работы, анализ собственных достижений и ошибок, что способствует личностному и профессиональному росту.</a:t>
            </a:r>
          </a:p>
          <a:p>
            <a:pPr>
              <a:buNone/>
            </a:pPr>
            <a:endParaRPr lang="ru-RU" sz="1200" dirty="0"/>
          </a:p>
          <a:p>
            <a:pPr algn="ctr">
              <a:buNone/>
            </a:pP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НАПРИМЕР</a:t>
            </a:r>
          </a:p>
          <a:p>
            <a:pPr marL="914400" indent="-914400" algn="just">
              <a:buAutoNum type="arabicPeriod"/>
            </a:pP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Анализ предметной области по теме: «».</a:t>
            </a:r>
          </a:p>
          <a:p>
            <a:pPr marL="914400" indent="-914400" algn="just">
              <a:buAutoNum type="arabicPeriod"/>
            </a:pP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Раскрытие основных понятий изучаемых дисциплин: «».</a:t>
            </a:r>
          </a:p>
          <a:p>
            <a:pPr marL="914400" indent="-914400" algn="just">
              <a:buAutoNum type="arabicPeriod"/>
            </a:pP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Разработка технического задания (входные, выходные данные, все, что будет делать, разрабатываемая программа).</a:t>
            </a:r>
          </a:p>
          <a:p>
            <a:pPr marL="914400" indent="-914400" algn="just">
              <a:buAutoNum type="arabicPeriod"/>
            </a:pP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Разработка рабочего проекта (описать все, что будет выполнять программа)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8501122" cy="857256"/>
          </a:xfrm>
        </p:spPr>
        <p:txBody>
          <a:bodyPr>
            <a:noAutofit/>
          </a:bodyPr>
          <a:lstStyle/>
          <a:p>
            <a:r>
              <a:rPr lang="ru-RU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АЛГОРИТМ </a:t>
            </a:r>
            <a:br>
              <a:rPr lang="ru-RU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для написания, разрабатываемой программы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71504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Алгоритм разработки программы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Определение цели и требований</a:t>
            </a:r>
            <a:endParaRPr lang="ru-RU" sz="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Четко сформулировать цель программы.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Составить список функциональных и нефункциональных требований.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Анализ и проектирование</a:t>
            </a:r>
            <a:endParaRPr lang="ru-RU" sz="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Провести анализ требований и определить основные функции.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Создать эскиз архитектуры программы (например, использование UML-диаграмм).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Определить технологии и инструменты, которые будут использоваться (язык программирования, </a:t>
            </a:r>
            <a:r>
              <a:rPr lang="ru-RU" sz="600" dirty="0" err="1">
                <a:latin typeface="Times New Roman" pitchFamily="18" charset="0"/>
                <a:cs typeface="Times New Roman" pitchFamily="18" charset="0"/>
              </a:rPr>
              <a:t>фреймворки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, базы данных и т.д.).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Разработка структуры программы</a:t>
            </a:r>
            <a:endParaRPr lang="ru-RU" sz="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Определить основные модули и компоненты программы.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Спроектировать интерфейсы между модулями.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Создать детальную спецификацию для каждого модуля.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Кодирование</a:t>
            </a:r>
            <a:endParaRPr lang="ru-RU" sz="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Написать код для каждого модуля, следуя стандартам кодирования.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Проводить регулярные проверки кода (например, с помощью </a:t>
            </a:r>
            <a:r>
              <a:rPr lang="ru-RU" sz="600" dirty="0" err="1">
                <a:latin typeface="Times New Roman" pitchFamily="18" charset="0"/>
                <a:cs typeface="Times New Roman" pitchFamily="18" charset="0"/>
              </a:rPr>
              <a:t>ревью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 кода).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Тестирование</a:t>
            </a:r>
            <a:endParaRPr lang="ru-RU" sz="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Разработать тестовые сценарии на основе требований.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Провести </a:t>
            </a:r>
            <a:r>
              <a:rPr lang="ru-RU" sz="600" dirty="0" err="1">
                <a:latin typeface="Times New Roman" pitchFamily="18" charset="0"/>
                <a:cs typeface="Times New Roman" pitchFamily="18" charset="0"/>
              </a:rPr>
              <a:t>юнит-тестирование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 для каждого модуля.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Выполнить интеграционное тестирование для проверки взаимодействия между модулями.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Провести системное тестирование для проверки работы всей программы в целом.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Отладка</a:t>
            </a:r>
            <a:endParaRPr lang="ru-RU" sz="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Исправить выявленные ошибки и недочеты.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Повторно протестировать исправленные модули.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Документация</a:t>
            </a:r>
            <a:endParaRPr lang="ru-RU" sz="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Написать документацию для пользователей (пользовательское руководство).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Создать техническую документацию для разработчиков (описание архитектуры, API и т.д.).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Развертывание</a:t>
            </a:r>
            <a:endParaRPr lang="ru-RU" sz="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Подготовить программу к развертыванию (сборка, упаковка).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Развернуть программу на целевой платформе (сервере, компьютере и т.д.).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Поддержка и обновление</a:t>
            </a:r>
            <a:endParaRPr lang="ru-RU" sz="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Обеспечить поддержку пользователей (ответы на вопросы, решение проблем).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Регулярно обновлять программу, добавляя новые функции и исправляя ошибки.</a:t>
            </a:r>
          </a:p>
          <a:p>
            <a:pPr>
              <a:spcBef>
                <a:spcPts val="0"/>
              </a:spcBef>
              <a:buNone/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Пример алгоритма для конкретной программы</a:t>
            </a:r>
          </a:p>
          <a:p>
            <a:pPr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Если у вас есть конкретная программа, которую вы хотите разработать, например, "Калькулятор", алгоритм может выглядеть так: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Определение цели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: Создать калькулятор для выполнения основных арифметических операций.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Анализ требований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Функции: сложение, вычитание, умножение, деление.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Интерфейс: графический или консольный.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Проектирование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Определить модули: ввод данных, обработка операций, вывод результата.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Кодирование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Написать код для каждого модуля.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Тестирование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Проверить каждую арифметическую операцию с различными входными данными.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Отладка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Исправить ошибки, если они есть.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Документация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Создать руководство пользователя.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Развертывание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Установить калькулятор на целевой компьютер.</a:t>
            </a:r>
          </a:p>
          <a:p>
            <a:pPr>
              <a:spcBef>
                <a:spcPts val="0"/>
              </a:spcBef>
            </a:pPr>
            <a:r>
              <a:rPr lang="ru-RU" sz="600" b="1" dirty="0">
                <a:latin typeface="Times New Roman" pitchFamily="18" charset="0"/>
                <a:cs typeface="Times New Roman" pitchFamily="18" charset="0"/>
              </a:rPr>
              <a:t>Поддержка</a:t>
            </a: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ru-RU" sz="600" dirty="0">
                <a:latin typeface="Times New Roman" pitchFamily="18" charset="0"/>
                <a:cs typeface="Times New Roman" pitchFamily="18" charset="0"/>
              </a:rPr>
              <a:t>Обеспечить обратную связь от пользователей.</a:t>
            </a:r>
          </a:p>
          <a:p>
            <a:pPr algn="ctr">
              <a:spcBef>
                <a:spcPts val="0"/>
              </a:spcBef>
              <a:buNone/>
            </a:pPr>
            <a:endParaRPr lang="ru-RU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Информация на слайде представляем в виде блок-схемы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РАСКРЫТИЕ ОСНОВНЫХ ПОНЯТИЙ ДЛЯ РАЗРАБОТКИ ПРОГРАММЫ 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Приводиться теоретический материал</a:t>
            </a:r>
          </a:p>
          <a:p>
            <a:pPr algn="ctr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(1-3 слайда)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329642" cy="1143008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  <a:br>
              <a:rPr lang="ru-R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Описать словесно, в виде схемы, рисунки</a:t>
            </a:r>
          </a:p>
          <a:p>
            <a:pPr algn="ctr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 (кто будет являться пользователем программы)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8229600" cy="571504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ИНТЕРФЕЙС ПРОГРАММЫ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642918"/>
            <a:ext cx="8715436" cy="5143536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Создание интерфейса программы — это важный аспект разработки, который влияет на удобство использования и восприятие приложения пользователями. Интерфейс может быть графическим (GUI) или текстовым (CLI). Вот основные шаги и рекомендации по разработке интерфейса программы:</a:t>
            </a:r>
          </a:p>
          <a:p>
            <a:pPr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1. Определение типа интерфейса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Графический интерфейс (GUI)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 Подходит для приложений, где необходима визуализация данных, например, калькуляторы, игры, редакторы и т.д.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Текстовый интерфейс (CLI)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 Подходит для утилит и программ, которые требуют ввода команд и не требуют сложной визуализации.</a:t>
            </a:r>
          </a:p>
          <a:p>
            <a:pPr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2. Проектирование интерфейса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Для графического интерфейса (GUI):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Макет интерфейса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Используйте инструменты проектирования (например,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Figma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Adobe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XD) для создания макетов.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Определите основные элементы: кнопки, поля ввода, меню, панели инструментов и т.д.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Элементы управления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Кнопки: для выполнения действий (например, "Сложить", "Вычесть").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Поля ввода: для ввода чисел.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Метки: для отображения результатов и инструкций.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Сообщения об ошибках: для информирования пользователя о неверном вводе.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Цветовая схема и шрифты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Выберите приятные для глаз цвета и шрифты, которые легко читаются.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Обеспечьте контрастность между фоном и текстом.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Навигация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Убедитесь, что интерфейс интуитивно понятен, и пользователи могут легко находить нужные функции.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Для текстового интерфейса (CLI):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Структура команд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Определите команды, которые пользователь будет вводить, и их синтаксис (например, 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calc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add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5 10).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Пользовательские сообщения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Создайте четкие и понятные сообщения для взаимодействия (например, "Введите первое число: ").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Обработка ошибок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Предусмотрите сообщения об ошибках для неверного ввода (например, "Ошибка: введите число").</a:t>
            </a:r>
          </a:p>
          <a:p>
            <a:pPr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3. Реализация интерфейса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Выбор технологий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Для GUI: используйте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фреймворки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такие как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JavaFX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Swing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), WPF (C#), или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веб-технологии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(HTML/CSS/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Для CLI: используйте стандартные библиотеки языка программирования для обработки ввода/вывода.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Кодирование интерфейса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Реализуйте элементы управления и логику взаимодействия.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Убедитесь, что интерфейс реагирует на действия пользователя (например, нажатия кнопок).</a:t>
            </a:r>
          </a:p>
          <a:p>
            <a:pPr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4. Тестирование интерфейса</a:t>
            </a:r>
          </a:p>
          <a:p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Юзабилити-тестирование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Проведите тестирование с реальными пользователями, чтобы получить обратную связь о удобстве интерфейса.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Исправление ошибок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На основе полученной обратной связи внесите изменения и улучшения в интерфейс.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Пример интерфейса калькулятора</a:t>
            </a:r>
          </a:p>
          <a:p>
            <a:pPr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Графический интерфейс (GUI):</a:t>
            </a: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Элементы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Поле ввода для чисел.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Кнопки:</a:t>
            </a:r>
          </a:p>
          <a:p>
            <a:pPr lvl="2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"Сложить"</a:t>
            </a:r>
          </a:p>
          <a:p>
            <a:pPr lvl="2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"Вычесть"</a:t>
            </a:r>
          </a:p>
          <a:p>
            <a:pPr lvl="2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"Умножить"</a:t>
            </a:r>
          </a:p>
          <a:p>
            <a:pPr lvl="2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"Разделить"</a:t>
            </a:r>
          </a:p>
          <a:p>
            <a:pPr lvl="1"/>
            <a:r>
              <a:rPr lang="ru-RU" dirty="0">
                <a:latin typeface="Times New Roman" pitchFamily="18" charset="0"/>
                <a:cs typeface="Times New Roman" pitchFamily="18" charset="0"/>
              </a:rPr>
              <a:t>Метка для отображения результата.</a:t>
            </a:r>
          </a:p>
          <a:p>
            <a:pPr lvl="1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15816" y="4917562"/>
            <a:ext cx="5934072" cy="1403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ru-RU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И ВЫХОДНЫЕ ДАННЫЕ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571480"/>
            <a:ext cx="8301038" cy="6072206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В контексте разработки программного обеспечения, "входные" и "выходные" данные относятся к информации, которую программа принимает на вход и обрабатывает, а также к результатам, которые она возвращает после обработки. Вот более подробное объяснение:</a:t>
            </a:r>
          </a:p>
          <a:p>
            <a:pPr>
              <a:buNone/>
            </a:pP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Входные данные</a:t>
            </a:r>
          </a:p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Входные данные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 — это информация, которую программа принимает от пользователя или из других источников. В зависимости от типа интерфейса, входные данные могут принимать различные формы:</a:t>
            </a:r>
          </a:p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Для графического интерфейса (GUI)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Поля ввода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 текстовые поля, где пользователи могут вводить данные (например, числа, текст).</a:t>
            </a:r>
          </a:p>
          <a:p>
            <a:pPr lvl="1"/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Кнопки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 действия, которые пользователь может инициировать (например, "Сложить", "Вычесть").</a:t>
            </a:r>
          </a:p>
          <a:p>
            <a:pPr lvl="1"/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Списки и выпадающие меню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 позволяют пользователю выбирать из предопределенных значений.</a:t>
            </a:r>
          </a:p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Для текстового интерфейса (CLI)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Командная строка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 пользователь вводит команды и аргументы (например, </a:t>
            </a:r>
            <a:r>
              <a:rPr lang="ru-RU" sz="4800" dirty="0" err="1">
                <a:latin typeface="Times New Roman" pitchFamily="18" charset="0"/>
                <a:cs typeface="Times New Roman" pitchFamily="18" charset="0"/>
              </a:rPr>
              <a:t>calc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800" dirty="0" err="1">
                <a:latin typeface="Times New Roman" pitchFamily="18" charset="0"/>
                <a:cs typeface="Times New Roman" pitchFamily="18" charset="0"/>
              </a:rPr>
              <a:t>add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 5 10).</a:t>
            </a:r>
          </a:p>
          <a:p>
            <a:pPr lvl="1"/>
            <a:r>
              <a:rPr lang="ru-RU" sz="4800" b="1" dirty="0" err="1">
                <a:latin typeface="Times New Roman" pitchFamily="18" charset="0"/>
                <a:cs typeface="Times New Roman" pitchFamily="18" charset="0"/>
              </a:rPr>
              <a:t>Промпты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 программа запрашивает у пользователя ввод (например, "Введите число:").</a:t>
            </a:r>
          </a:p>
          <a:p>
            <a:pPr>
              <a:buNone/>
            </a:pP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Примеры входных данных</a:t>
            </a:r>
          </a:p>
          <a:p>
            <a:pPr>
              <a:buNone/>
            </a:pP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Для калькулятора:</a:t>
            </a:r>
          </a:p>
          <a:p>
            <a:pPr lvl="1"/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Число 1: 5</a:t>
            </a:r>
          </a:p>
          <a:p>
            <a:pPr lvl="1"/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Число 2: 10</a:t>
            </a:r>
          </a:p>
          <a:p>
            <a:pPr lvl="1"/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Операция: сложение</a:t>
            </a:r>
          </a:p>
          <a:p>
            <a:pPr>
              <a:buNone/>
            </a:pP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Выходные данные</a:t>
            </a:r>
          </a:p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Выходные данные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 — это информация, которую программа возвращает пользователю после обработки входных данных. Выходные данные могут быть представлены в различных форматах:</a:t>
            </a:r>
          </a:p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Для графического интерфейса (GUI)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Метки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 текст, отображаемый на экране, который показывает результаты (например, "Результат: 15").</a:t>
            </a:r>
          </a:p>
          <a:p>
            <a:pPr lvl="1"/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Диалоговые окна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 сообщения об ошибках или подтверждения действия.</a:t>
            </a:r>
          </a:p>
          <a:p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Для текстового интерфейса (CLI)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Текстовые сообщения</a:t>
            </a: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: программа выводит результаты или сообщения об ошибках в командной строке.</a:t>
            </a:r>
          </a:p>
          <a:p>
            <a:pPr>
              <a:buNone/>
            </a:pPr>
            <a:r>
              <a:rPr lang="ru-RU" sz="4800" b="1" dirty="0">
                <a:latin typeface="Times New Roman" pitchFamily="18" charset="0"/>
                <a:cs typeface="Times New Roman" pitchFamily="18" charset="0"/>
              </a:rPr>
              <a:t>Примеры выходных данных</a:t>
            </a:r>
          </a:p>
          <a:p>
            <a:pPr>
              <a:buNone/>
            </a:pP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Для калькулятора:</a:t>
            </a:r>
          </a:p>
          <a:p>
            <a:pPr lvl="1"/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Результат сложения: 15</a:t>
            </a:r>
          </a:p>
          <a:p>
            <a:pPr lvl="1"/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Сообщение об ошибке: "Ошибка: введите корректное число.«</a:t>
            </a:r>
          </a:p>
          <a:p>
            <a:pPr>
              <a:buNone/>
            </a:pPr>
            <a:r>
              <a:rPr lang="ru-RU" sz="4800" dirty="0">
                <a:latin typeface="Times New Roman" pitchFamily="18" charset="0"/>
                <a:cs typeface="Times New Roman" pitchFamily="18" charset="0"/>
              </a:rPr>
              <a:t>Входные и выходные данные являются ключевыми компонентами любого приложения. Они определяют, как программа взаимодействует с пользователем и как она обрабатывает информацию. При проектировании интерфейса важно учитывать, как пользователи будут вводить данные и как они будут получать результаты, чтобы обеспечить удобство и интуитивность использования приложения.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922114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РАЗРАБОТКИ</a:t>
            </a:r>
            <a:b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908720"/>
            <a:ext cx="8363272" cy="52174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разработки — это широкий термин, охватывающий различные инструменты и технологии, используемые для создания, отладки, тестирования и развертывания программного обеспечения. Они облегчают процесс разработки, делая его более эффективным, надежным и управляемым.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Вот некоторые ключевые категории и примеры средств разработки:</a:t>
            </a:r>
          </a:p>
          <a:p>
            <a:pPr marL="0" indent="0">
              <a:buNone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Текстовые редакторы и IDE (Интегрированные среды разработки):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Текстовые редакторы: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Sublime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Легкий, настраиваемый и быстрый редактор с поддержкой множества языков программирования.</a:t>
            </a:r>
          </a:p>
          <a:p>
            <a:pPr lvl="1"/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(VS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Бесплатный, мощный и расширяемый редактор, популярный среди разработчиков благодаря своей гибкости и богатой экосистеме расширений.</a:t>
            </a:r>
          </a:p>
          <a:p>
            <a:pPr lvl="1"/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Бесплатный, с открытым исходным кодом редактор, настраиваемый и с возможностью установки пакетов.</a:t>
            </a:r>
          </a:p>
          <a:p>
            <a:pPr lvl="1"/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Notepad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Бесплатный текстовый редактор для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поддержкой различных языков программирования.</a:t>
            </a:r>
          </a:p>
          <a:p>
            <a:pPr marL="0" indent="0">
              <a:buNone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Мощная и полнофункциональная IDE от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разработки приложений на различных платформах (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веб, мобильные).</a:t>
            </a:r>
          </a:p>
          <a:p>
            <a:pPr marL="0" indent="0">
              <a:buNone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 инструменты: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для создания диаграмм и схем (Draw.io,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Lucidchart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визуализации архитектуры приложения.</a:t>
            </a:r>
          </a:p>
          <a:p>
            <a:pPr marL="0" indent="0" algn="ctr">
              <a:buNone/>
            </a:pPr>
            <a:r>
              <a:rPr lang="ru-R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разработки: С++ (17)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 (6.7.2)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 Creator (14.0.1)</a:t>
            </a:r>
            <a:r>
              <a:rPr lang="ru-RU" sz="900" b="1" i="0" dirty="0">
                <a:solidFill>
                  <a:srgbClr val="333333"/>
                </a:solidFill>
                <a:effectLst/>
                <a:latin typeface="-apple-system"/>
              </a:rPr>
              <a:t> -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набор инструментов, компонентов и методов, которые облегчают разработку программного обеспечения. Простыми словами, это готовый шаблон для написания программы, который помогает программистам быстрее и эффективнее разрабатывать приложения, предоставляя готовые решения для часто используемых задач</a:t>
            </a:r>
            <a:r>
              <a:rPr lang="ru-RU" sz="900" b="0" i="0" dirty="0">
                <a:solidFill>
                  <a:srgbClr val="333333"/>
                </a:solidFill>
                <a:effectLst/>
                <a:latin typeface="-apple-system"/>
              </a:rPr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Документации: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Word 2021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Point 2021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881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СВЕДЕНИЯ О ПРОЕКТЕ</a:t>
            </a:r>
            <a:br>
              <a:rPr lang="ru-R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908720"/>
            <a:ext cx="8361115" cy="561662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Сведения о проекте” - это очень широкое понятие, и оно может включать в себя множество аспектов.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Техническая информация (для IT-проектов):</a:t>
            </a: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какие языки программирования,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базы данных, библиотеки и другие инструменты используются в проекте?</a:t>
            </a: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какова архитектура проекта? Какие компоненты он включает?</a:t>
            </a:r>
          </a:p>
          <a:p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кода: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где хранится код проекта (например,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какие IDE и инструменты используют разработчики?</a:t>
            </a: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развертывания: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где будет развернут проект (сервер, облако, мобильные устройства)?</a:t>
            </a: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контроля версий: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какая система контроля версий используется (например,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Зависимости: 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пакеты и библиотеки требуются для работы проекта?</a:t>
            </a:r>
          </a:p>
          <a:p>
            <a:pPr marL="0" indent="0" algn="ctr">
              <a:buNone/>
            </a:pP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классов: 7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модулей: 19. 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файлов: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Заголовочные файлы (.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h) - 7 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Файлы реализации (.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8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Файлы интерфейса (.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- 4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форм: 9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строк кода: свыше 1800 строк 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(в данных строках полностью реализованы 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классы показанные на слайде «Диаграмма классов»)</a:t>
            </a:r>
          </a:p>
          <a:p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Файл с теорией: «Теория алгоритм Рабина-Карпа.html»</a:t>
            </a:r>
            <a:endParaRPr lang="ru-RU" sz="18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Файл с вопросами: «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CoderTest.txt»</a:t>
            </a: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Файл с инструкцией: «Руководство пользователя.html»</a:t>
            </a:r>
            <a:endParaRPr lang="ru-RU" sz="18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Файл с информацией: «О программе.html»</a:t>
            </a:r>
            <a:endParaRPr lang="ru-RU" sz="18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Количество вопросов в тесте: 21</a:t>
            </a:r>
            <a:endParaRPr lang="ru-RU" sz="18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pPr marL="0" indent="0" algn="ctr">
              <a:buNone/>
            </a:pPr>
            <a:endParaRPr lang="ru-RU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962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ТРЕБОВАНИЯ</a:t>
            </a:r>
            <a:b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699691"/>
            <a:ext cx="8712968" cy="366541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требования — это технические характеристики, которыми должна обладать компьютерная система (будь то аппаратное или программное обеспечение) для корректной и эффективной работы определенного программного продукта, приложения или сервиса.</a:t>
            </a:r>
          </a:p>
          <a:p>
            <a:pPr marL="0" indent="0"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требования обычно делятся на:</a:t>
            </a:r>
          </a:p>
          <a:p>
            <a:pPr marL="0" indent="0">
              <a:buNone/>
            </a:pP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Минимальные системные требования: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Описывают минимальные характеристики, необходимые для того, чтобы программное обеспечение вообще запустилось и работало, хотя и, возможно, с ограниченной производительностью или функциональностью.</a:t>
            </a: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 соблюдение гарантирует, что программа будет работать, но комфорт и производительность могут быть не на высоте.</a:t>
            </a:r>
          </a:p>
          <a:p>
            <a:pPr marL="0" indent="0">
              <a:buNone/>
            </a:pP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Рекомендуемые системные требования: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Описывают характеристики, необходимые для оптимальной производительности и комфортной работы программного обеспечения.</a:t>
            </a: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Соблюдение этих требований обеспечивает наилучший пользовательский опыт и максимальную функциональность.</a:t>
            </a:r>
          </a:p>
          <a:p>
            <a:pPr marL="0" indent="0">
              <a:buNone/>
            </a:pP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Составляющие системных требований: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требования обычно включают в себя следующие компоненты:</a:t>
            </a:r>
          </a:p>
          <a:p>
            <a:pPr marL="0" indent="0">
              <a:buNone/>
            </a:pP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Операционная система (ОС):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(64-bit),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10.15+,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Ubuntu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20.04+</a:t>
            </a: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Указывается конкретная версия и разрядность (32-bit или 64-bit), если это важно.</a:t>
            </a:r>
          </a:p>
          <a:p>
            <a:pPr marL="0" indent="0">
              <a:buNone/>
            </a:pP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(CPU):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 Intel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i5-4460 или AMD FX-6300 (минимальные), Intel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i7-6700 или AMD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1600 (рекомендуемые)</a:t>
            </a: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Указывается производитель, модель и тактовая частота.</a:t>
            </a:r>
          </a:p>
          <a:p>
            <a:pPr marL="0" indent="0">
              <a:buNone/>
            </a:pP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Оперативная память (RAM):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 8 ГБ RAM (минимальные), 16 ГБ RAM (рекомендуемые)</a:t>
            </a: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Указывается объем оперативной памяти.</a:t>
            </a:r>
          </a:p>
          <a:p>
            <a:pPr marL="0" indent="0">
              <a:buNone/>
            </a:pP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Место на жестком диске (HDD/SSD):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 20 ГБ свободного места на диске (минимальные), 50 ГБ свободного места на SSD (рекомендуемые)</a:t>
            </a: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Указывается необходимый объем дискового пространства.</a:t>
            </a:r>
          </a:p>
          <a:p>
            <a:pPr marL="0" indent="0" algn="ctr">
              <a:buNone/>
            </a:pPr>
            <a:br>
              <a:rPr lang="ru-RU" dirty="0"/>
            </a:br>
            <a:r>
              <a:rPr lang="ru-RU" sz="5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423770"/>
              </p:ext>
            </p:extLst>
          </p:nvPr>
        </p:nvGraphicFramePr>
        <p:xfrm>
          <a:off x="107504" y="4653136"/>
          <a:ext cx="8928992" cy="20243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4496">
                  <a:extLst>
                    <a:ext uri="{9D8B030D-6E8A-4147-A177-3AD203B41FA5}">
                      <a16:colId xmlns:a16="http://schemas.microsoft.com/office/drawing/2014/main" val="2935767108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423603485"/>
                    </a:ext>
                  </a:extLst>
                </a:gridCol>
              </a:tblGrid>
              <a:tr h="20243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для программы</a:t>
                      </a:r>
                    </a:p>
                    <a:p>
                      <a:pPr rtl="0"/>
                      <a:r>
                        <a:rPr lang="ru-RU" sz="900" b="1" i="0" u="none" strike="noStrike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Процессор</a:t>
                      </a: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Intel/</a:t>
                      </a:r>
                      <a:r>
                        <a:rPr lang="ru-RU" sz="900" b="0" i="0" u="none" strike="noStrike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Amd</a:t>
                      </a: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-совместимый процессор с тактовой частотой не менее 1,6 ГГц;</a:t>
                      </a:r>
                    </a:p>
                    <a:p>
                      <a:pPr rtl="0"/>
                      <a:r>
                        <a:rPr lang="ru-RU" sz="9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Оперативная</a:t>
                      </a:r>
                      <a:r>
                        <a:rPr lang="ru-RU" sz="9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9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память</a:t>
                      </a:r>
                      <a:r>
                        <a:rPr lang="ru-RU" sz="9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не менее 8 ГБ ОЗУ;</a:t>
                      </a:r>
                    </a:p>
                    <a:p>
                      <a:pPr rtl="0"/>
                      <a:r>
                        <a:rPr lang="ru-RU" sz="9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Жесткий</a:t>
                      </a:r>
                      <a:r>
                        <a:rPr lang="ru-RU" sz="9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9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диск</a:t>
                      </a:r>
                      <a:r>
                        <a:rPr lang="ru-RU" sz="9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не менее 20 ГБ свободного места на жестком диске;</a:t>
                      </a:r>
                    </a:p>
                    <a:p>
                      <a:pPr rtl="0"/>
                      <a:r>
                        <a:rPr lang="ru-RU" sz="9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ОС</a:t>
                      </a:r>
                      <a:r>
                        <a:rPr lang="ru-RU" sz="9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Операционная система: </a:t>
                      </a:r>
                      <a:r>
                        <a:rPr lang="ru-RU" sz="9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Windows</a:t>
                      </a:r>
                      <a:r>
                        <a:rPr lang="ru-RU" sz="9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 (x64).</a:t>
                      </a:r>
                      <a:endParaRPr lang="ru-RU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9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 игры:</a:t>
                      </a:r>
                      <a:endParaRPr lang="ru-RU" sz="9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1" indent="0"/>
                      <a:r>
                        <a:rPr lang="ru-RU" sz="9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Минимальные:</a:t>
                      </a:r>
                      <a:endParaRPr lang="ru-RU" sz="9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2" indent="0"/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ОС: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Windows 7/8.1/10 (64-bit)</a:t>
                      </a:r>
                    </a:p>
                    <a:p>
                      <a:pPr marL="0" lvl="2" indent="0"/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Процессор: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 Core i3-2100 </a:t>
                      </a:r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или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AMD Phenom II X4 965</a:t>
                      </a:r>
                    </a:p>
                    <a:p>
                      <a:pPr marL="0" lvl="2" indent="0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RAM: 4 </a:t>
                      </a:r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ГБ</a:t>
                      </a:r>
                    </a:p>
                    <a:p>
                      <a:pPr marL="0" lvl="2" indent="0"/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Видеокарта: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NVIDIA GeForce GTX 650 </a:t>
                      </a:r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1GB </a:t>
                      </a:r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или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AMD Radeon HD 7770 1GB</a:t>
                      </a:r>
                    </a:p>
                    <a:p>
                      <a:pPr marL="0" lvl="2" indent="0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HDD: 25 </a:t>
                      </a:r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ГБ свободного места</a:t>
                      </a:r>
                    </a:p>
                    <a:p>
                      <a:pPr marL="0" lvl="1" indent="0"/>
                      <a:r>
                        <a:rPr lang="ru-RU" sz="9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Рекомендуемые:</a:t>
                      </a:r>
                      <a:endParaRPr lang="ru-RU" sz="9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2" indent="0"/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ОС: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Windows 10 (64-bit)</a:t>
                      </a:r>
                    </a:p>
                    <a:p>
                      <a:pPr marL="0" lvl="2" indent="0"/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Процессор: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 Core i5-4690 </a:t>
                      </a:r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или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AMD Ryzen 5 1600</a:t>
                      </a:r>
                    </a:p>
                    <a:p>
                      <a:pPr marL="0" lvl="2" indent="0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RAM: 8 </a:t>
                      </a:r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ГБ</a:t>
                      </a:r>
                    </a:p>
                    <a:p>
                      <a:pPr marL="0" lvl="2" indent="0"/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Видеокарта: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NVIDIA GeForce GTX 1060 6GB </a:t>
                      </a:r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или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AMD Radeon RX 580 8GB</a:t>
                      </a:r>
                    </a:p>
                    <a:p>
                      <a:pPr marL="0" lvl="2" indent="0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SSD: 25 </a:t>
                      </a:r>
                      <a:r>
                        <a:rPr lang="ru-RU" sz="9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ГБ свободного места</a:t>
                      </a:r>
                    </a:p>
                    <a:p>
                      <a:endParaRPr lang="ru-RU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189678"/>
                  </a:ext>
                </a:extLst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532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КП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124744"/>
            <a:ext cx="8147248" cy="5400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по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урсовому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проекту -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заключительная часть работы, где вы подводите итоги своего исследования, анализа или разработки. Они должны быть краткими, конкретными и отражать ключевые результаты и достижения.</a:t>
            </a:r>
          </a:p>
          <a:p>
            <a:pPr marL="0" indent="0" algn="just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Вот как правильно сформулировать выводы, с разбивкой на ключевые аспекты:</a:t>
            </a:r>
          </a:p>
          <a:p>
            <a:pPr marL="0" indent="0" algn="just">
              <a:buNone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Ключевые результаты и достижения: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Подтверждение или опровержение гипотезы (если была):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Четко укажите, удалось ли вам подтвердить или опровергнуть выдвинутую гипотезу. Если гипотезы не было, опишите, какие цели были достигнуты.</a:t>
            </a:r>
          </a:p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результаты исследования/проекта: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Кратко перечислите основные результаты, которые вы получили в ходе работы. Это могут быть новые знания, разработанные продукты, выявленные закономерности, достигнутые показатели, и т.д.</a:t>
            </a:r>
          </a:p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Количественные и качественные показатели: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Приведите конкретные цифры, проценты или другие измеримые результаты, если они есть. Также не забудьте про качественные выводы - что вы узнали, чему научились, какие проблемы решили.</a:t>
            </a:r>
          </a:p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поставленных задач: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Опишите, насколько успешно вы справились с задачами, которые ставились в начале работы.</a:t>
            </a:r>
          </a:p>
          <a:p>
            <a:pPr marL="0" indent="0" algn="ctr">
              <a:buNone/>
            </a:pP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</a:p>
          <a:p>
            <a:pPr marL="0" indent="0">
              <a:buNone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по программированию: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“В результате работы над курсовым проектом был разработан [название проекта], который позволяет [функционал проекта]. Программа успешно реализует [функциональность], как и было запланировано. Анализ результатов тестирования показал, что программа имеет [показатели производительности].”(анализ результатов можно показать в виде диаграммы)</a:t>
            </a:r>
          </a:p>
          <a:p>
            <a:pPr marL="0" indent="0" algn="ctr">
              <a:buNone/>
            </a:pPr>
            <a:endParaRPr lang="ru-RU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808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marL="0" indent="0" algn="ctr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256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2997</Words>
  <Application>Microsoft Office PowerPoint</Application>
  <PresentationFormat>Экран (4:3)</PresentationFormat>
  <Paragraphs>298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-apple-system</vt:lpstr>
      <vt:lpstr>Arial</vt:lpstr>
      <vt:lpstr>Calibri</vt:lpstr>
      <vt:lpstr>Times New Roman</vt:lpstr>
      <vt:lpstr>Тема Office</vt:lpstr>
      <vt:lpstr>Титульный лист</vt:lpstr>
      <vt:lpstr>АНАЛИЗ ПРЕДМЕТНОЙ ОБЛАСТИ КП (1 – 2 СЛАЙД)</vt:lpstr>
      <vt:lpstr>АКТУАЛЬНОСТЬ КП</vt:lpstr>
      <vt:lpstr>ЦЕЛЬ КП</vt:lpstr>
      <vt:lpstr>ЗАДАЧИ КП</vt:lpstr>
      <vt:lpstr>АЛГОРИТМ  для написания, разрабатываемой программы </vt:lpstr>
      <vt:lpstr>РАСКРЫТИЕ ОСНОВНЫХ ПОНЯТИЙ ДЛЯ РАЗРАБОТКИ ПРОГРАММЫ </vt:lpstr>
      <vt:lpstr>ДИАГРАММА ВАРИАНТОВ ИСПОЛЬЗОВАНИЯ </vt:lpstr>
      <vt:lpstr>ИНТЕРФЕЙС ПРОГРАММЫ</vt:lpstr>
      <vt:lpstr>ВХОДНЫЕ И ВЫХОДНЫЕ ДАННЫЕ </vt:lpstr>
      <vt:lpstr>СРЕДСТВА РАЗРАБОТКИ </vt:lpstr>
      <vt:lpstr>СВЕДЕНИЯ О ПРОЕКТЕ </vt:lpstr>
      <vt:lpstr>СИСТЕМНЫЕ ТРЕБОВАНИЯ </vt:lpstr>
      <vt:lpstr>ВЫВОДЫ КП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ПРЕДМЕТНОЙ ОБЛАСТИ (1 – 2 СЛАЙД)</dc:title>
  <dc:creator>студент9208</dc:creator>
  <cp:lastModifiedBy>evsinalena@mail.ru</cp:lastModifiedBy>
  <cp:revision>53</cp:revision>
  <dcterms:created xsi:type="dcterms:W3CDTF">2025-01-23T08:44:18Z</dcterms:created>
  <dcterms:modified xsi:type="dcterms:W3CDTF">2026-04-20T12:55:17Z</dcterms:modified>
</cp:coreProperties>
</file>